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image" Target="../media/image-3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234440"/>
            <a:ext cx="10874959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481328" y="17830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公益 · 美育 · AI 创作  演示系统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481328" y="214884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病房美学计划 · 戴上春天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481328" y="312724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Ward Aesthetics Program · Wear the Spring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481328" y="3611880"/>
            <a:ext cx="1188720" cy="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81328" y="37947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让长期住院的女性和儿童，把本来就必须佩戴的头巾与口罩，</a:t>
            </a:r>
            <a:endParaRPr lang="en-US" sz="14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变成自己创作的艺术品。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81328" y="48006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9553A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美不是虚荣，是尊严。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613087" y="178308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E9D6"/>
          </a:solidFill>
          <a:ln w="12700">
            <a:solidFill>
              <a:srgbClr val="F0DF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13087" y="1783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路演演示版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41487" y="5806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· 公益演示系统（PC 版）</a:t>
            </a:r>
            <a:endParaRPr lang="en-US" sz="1100" dirty="0"/>
          </a:p>
        </p:txBody>
      </p:sp>
      <p:sp>
        <p:nvSpPr>
          <p:cNvPr id="12" name="AILabel"/>
          <p:cNvSpPr txBox="1"/>
          <p:nvPr/>
        </p:nvSpPr>
        <p:spPr>
          <a:xfrm>
            <a:off x="9611695" y="62780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  <p:sp>
        <p:nvSpPr>
          <p:cNvPr id="13" name="AILabel"/>
          <p:cNvSpPr txBox="1"/>
          <p:nvPr/>
        </p:nvSpPr>
        <p:spPr>
          <a:xfrm>
            <a:off x="9611695" y="62780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  <p:sp>
        <p:nvSpPr>
          <p:cNvPr id="14" name="AILabel"/>
          <p:cNvSpPr txBox="1"/>
          <p:nvPr/>
        </p:nvSpPr>
        <p:spPr>
          <a:xfrm>
            <a:off x="9611695" y="62780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DEMO ACCESS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在线演示与访问方式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评委可直接在浏览器中打开，无需安装；建议使用桌面端 Chrome / Edge。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170432"/>
            <a:ext cx="960120" cy="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83080"/>
            <a:ext cx="10874959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783080"/>
            <a:ext cx="100584" cy="877824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91109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评委演示主链接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78408" y="222199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项目主演示入口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41648" y="192938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https://sand.nine.vercel.app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298887" y="2039112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E9D6"/>
          </a:solidFill>
          <a:ln w="12700">
            <a:solidFill>
              <a:srgbClr val="F0DF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98887" y="203911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主链接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" y="2807208"/>
            <a:ext cx="10874959" cy="877824"/>
          </a:xfrm>
          <a:prstGeom prst="roundRect">
            <a:avLst>
              <a:gd name="adj" fmla="val 7292"/>
            </a:avLst>
          </a:prstGeom>
          <a:solidFill>
            <a:srgbClr val="FFF6E6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" y="2807208"/>
            <a:ext cx="100584" cy="877824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29352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中国大陆访问提示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78408" y="32461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该域名可能屏蔽中国大陆网络，若打不开请先连接 VPN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41648" y="295351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需开启 VPN 代理访问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298887" y="306324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E2BC"/>
          </a:solidFill>
          <a:ln w="12700">
            <a:solidFill>
              <a:srgbClr val="F0DF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98887" y="3063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" y="3831336"/>
            <a:ext cx="10874959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" y="3831336"/>
            <a:ext cx="100584" cy="877824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" y="39593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备用部署地址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8408" y="427024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同一份演示系统的备用部署，可直接访问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41648" y="397764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https://sand-nine-41.vercel.app/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0298887" y="4087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E9D6"/>
          </a:solidFill>
          <a:ln w="12700">
            <a:solidFill>
              <a:srgbClr val="F0DFC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98887" y="40873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备用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" y="4855464"/>
            <a:ext cx="10874959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8368" y="4855464"/>
            <a:ext cx="100584" cy="877824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8408" y="49834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GitHub 备用链接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78408" y="529437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源码仓库，可本地 clone 后直接打开 index.html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041648" y="500176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https://github.com/Charles-Felicie/-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0298887" y="5111496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E9D6"/>
          </a:solidFill>
          <a:ln w="12700">
            <a:solidFill>
              <a:srgbClr val="F0DFC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98887" y="511149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源码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本地演示：无需联网，直接打开项目目录下的 index.html 即可进入门户。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58368" y="64282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病房美学计划 · 戴上春天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984687" y="6400800"/>
            <a:ext cx="5486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DEMO ACCOUNTS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四个演示账号 · 一次看懂双端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已预置正常端与公益端账号，统一密码 111111；管理员账号 wardbeauty / 123456。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170432"/>
            <a:ext cx="960120" cy="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28800"/>
            <a:ext cx="2581580" cy="2834640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828800"/>
            <a:ext cx="2581580" cy="12801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8" name="Image 0" descr="/workspace/.demo/av-felici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115" y="2240280"/>
            <a:ext cx="754085" cy="1005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535539" y="2203704"/>
            <a:ext cx="827237" cy="1078992"/>
          </a:xfrm>
          <a:prstGeom prst="roundRect">
            <a:avLst>
              <a:gd name="adj" fmla="val 66322"/>
            </a:avLst>
          </a:prstGeom>
          <a:solidFill>
            <a:srgbClr val="FFFFFF">
              <a:alpha val="0"/>
            </a:srgbClr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3364992"/>
            <a:ext cx="25815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Felicie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58368" y="3675888"/>
            <a:ext cx="25815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正常用户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5528" y="3986784"/>
            <a:ext cx="2307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胡萝卜马头像 · 创作主力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290790" y="4407408"/>
            <a:ext cx="1316736" cy="329184"/>
          </a:xfrm>
          <a:prstGeom prst="roundRect">
            <a:avLst>
              <a:gd name="adj" fmla="val 50000"/>
            </a:avLst>
          </a:prstGeom>
          <a:solidFill>
            <a:srgbClr val="FFE9D6"/>
          </a:solidFill>
          <a:ln w="12700">
            <a:solidFill>
              <a:srgbClr val="F0DFC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90790" y="4407408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密码 111111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422828" y="1828800"/>
            <a:ext cx="2581580" cy="2834640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422828" y="1828800"/>
            <a:ext cx="2581580" cy="128016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7" name="Image 1" descr="/workspace/.demo/av-guillaum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0698" y="2240280"/>
            <a:ext cx="1005840" cy="100584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174122" y="2203704"/>
            <a:ext cx="1078992" cy="1078992"/>
          </a:xfrm>
          <a:prstGeom prst="roundRect">
            <a:avLst>
              <a:gd name="adj" fmla="val 50847"/>
            </a:avLst>
          </a:prstGeom>
          <a:solidFill>
            <a:srgbClr val="FFFFFF">
              <a:alpha val="0"/>
            </a:srgbClr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422828" y="3364992"/>
            <a:ext cx="25815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Guillaume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3422828" y="3675888"/>
            <a:ext cx="25815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正常用户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559988" y="3986784"/>
            <a:ext cx="2307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棕马头像 · 大地色偏好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055250" y="4407408"/>
            <a:ext cx="1316736" cy="329184"/>
          </a:xfrm>
          <a:prstGeom prst="roundRect">
            <a:avLst>
              <a:gd name="adj" fmla="val 50000"/>
            </a:avLst>
          </a:prstGeom>
          <a:solidFill>
            <a:srgbClr val="FFE9D6"/>
          </a:solidFill>
          <a:ln w="12700">
            <a:solidFill>
              <a:srgbClr val="F0DFC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055250" y="4407408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密码 111111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187288" y="1828800"/>
            <a:ext cx="2581580" cy="2834640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187288" y="1828800"/>
            <a:ext cx="2581580" cy="128016"/>
          </a:xfrm>
          <a:prstGeom prst="roundRect">
            <a:avLst>
              <a:gd name="adj" fmla="val 50000"/>
            </a:avLst>
          </a:prstGeom>
          <a:solidFill>
            <a:srgbClr val="4E7A52"/>
          </a:solidFill>
          <a:ln w="12700">
            <a:solidFill>
              <a:srgbClr val="4E7A52"/>
            </a:solidFill>
            <a:prstDash val="solid"/>
          </a:ln>
        </p:spPr>
      </p:sp>
      <p:pic>
        <p:nvPicPr>
          <p:cNvPr id="26" name="Image 2" descr="/workspace/.demo/av-charles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5158" y="2352888"/>
            <a:ext cx="1005840" cy="780625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6938582" y="2316312"/>
            <a:ext cx="1078992" cy="853777"/>
          </a:xfrm>
          <a:prstGeom prst="roundRect">
            <a:avLst>
              <a:gd name="adj" fmla="val 64260"/>
            </a:avLst>
          </a:prstGeom>
          <a:solidFill>
            <a:srgbClr val="FFFFFF">
              <a:alpha val="0"/>
            </a:srgbClr>
          </a:solidFill>
          <a:ln w="19050">
            <a:solidFill>
              <a:srgbClr val="4E7A52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187288" y="3364992"/>
            <a:ext cx="25815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Charles</a:t>
            </a:r>
            <a:endParaRPr lang="en-US" sz="1700" dirty="0"/>
          </a:p>
        </p:txBody>
      </p:sp>
      <p:sp>
        <p:nvSpPr>
          <p:cNvPr id="29" name="Text 24"/>
          <p:cNvSpPr/>
          <p:nvPr/>
        </p:nvSpPr>
        <p:spPr>
          <a:xfrm>
            <a:off x="6187288" y="3675888"/>
            <a:ext cx="25815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7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公益用户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324448" y="3986784"/>
            <a:ext cx="2307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小白马头像 · 第一医院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6819710" y="4407408"/>
            <a:ext cx="1316736" cy="329184"/>
          </a:xfrm>
          <a:prstGeom prst="roundRect">
            <a:avLst>
              <a:gd name="adj" fmla="val 50000"/>
            </a:avLst>
          </a:prstGeom>
          <a:solidFill>
            <a:srgbClr val="FFE9D6"/>
          </a:solidFill>
          <a:ln w="12700">
            <a:solidFill>
              <a:srgbClr val="F0DFCE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819710" y="4407408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密码 111111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8951747" y="1828800"/>
            <a:ext cx="2581580" cy="2834640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8951747" y="1828800"/>
            <a:ext cx="2581580" cy="128016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pic>
        <p:nvPicPr>
          <p:cNvPr id="35" name="Image 3" descr="/workspace/.demo/av-rosita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9617" y="2240280"/>
            <a:ext cx="1005840" cy="1005840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9703041" y="2203704"/>
            <a:ext cx="1078992" cy="1078992"/>
          </a:xfrm>
          <a:prstGeom prst="roundRect">
            <a:avLst>
              <a:gd name="adj" fmla="val 50847"/>
            </a:avLst>
          </a:prstGeom>
          <a:solidFill>
            <a:srgbClr val="FFFFFF">
              <a:alpha val="0"/>
            </a:srgbClr>
          </a:solidFill>
          <a:ln w="19050">
            <a:solidFill>
              <a:srgbClr val="E9C46A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8951747" y="3364992"/>
            <a:ext cx="25815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Rosita</a:t>
            </a:r>
            <a:endParaRPr lang="en-US" sz="1700" dirty="0"/>
          </a:p>
        </p:txBody>
      </p:sp>
      <p:sp>
        <p:nvSpPr>
          <p:cNvPr id="38" name="Text 32"/>
          <p:cNvSpPr/>
          <p:nvPr/>
        </p:nvSpPr>
        <p:spPr>
          <a:xfrm>
            <a:off x="8951747" y="3675888"/>
            <a:ext cx="25815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C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公益用户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9088907" y="3986784"/>
            <a:ext cx="2307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粉色小马头像 · 病房创作者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9584169" y="4407408"/>
            <a:ext cx="1316736" cy="329184"/>
          </a:xfrm>
          <a:prstGeom prst="roundRect">
            <a:avLst>
              <a:gd name="adj" fmla="val 50000"/>
            </a:avLst>
          </a:prstGeom>
          <a:solidFill>
            <a:srgbClr val="FFE9D6"/>
          </a:solidFill>
          <a:ln w="12700">
            <a:solidFill>
              <a:srgbClr val="F0DFCE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9584169" y="4407408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密码 111111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658368" y="4983480"/>
            <a:ext cx="10874959" cy="777240"/>
          </a:xfrm>
          <a:prstGeom prst="roundRect">
            <a:avLst>
              <a:gd name="adj" fmla="val 8235"/>
            </a:avLst>
          </a:prstGeom>
          <a:solidFill>
            <a:srgbClr val="FBEFE4"/>
          </a:solidFill>
          <a:ln w="12700">
            <a:solidFill>
              <a:srgbClr val="F0DFCE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978408" y="51389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演示逻辑：正常端用户创作并认捐 → 管理员审核并随机投放 → 公益端用户接收、佩戴并回传照片与感谢。</a:t>
            </a:r>
            <a:endParaRPr lang="en-US" sz="1300" dirty="0"/>
          </a:p>
        </p:txBody>
      </p:sp>
      <p:sp>
        <p:nvSpPr>
          <p:cNvPr id="44" name="Text 38"/>
          <p:cNvSpPr/>
          <p:nvPr/>
        </p:nvSpPr>
        <p:spPr>
          <a:xfrm>
            <a:off x="8607247" y="516636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管理员账号</a:t>
            </a:r>
            <a:endParaRPr lang="en-US" sz="1200" dirty="0"/>
          </a:p>
        </p:txBody>
      </p:sp>
      <p:sp>
        <p:nvSpPr>
          <p:cNvPr id="45" name="Shape 39"/>
          <p:cNvSpPr/>
          <p:nvPr/>
        </p:nvSpPr>
        <p:spPr>
          <a:xfrm>
            <a:off x="9750247" y="5193792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FFD9D0"/>
          </a:solidFill>
          <a:ln w="12700">
            <a:solidFill>
              <a:srgbClr val="F0DFCE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9750247" y="51937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wardbeauty / 123456</a:t>
            </a:r>
            <a:endParaRPr lang="en-US" sz="1100" dirty="0"/>
          </a:p>
        </p:txBody>
      </p:sp>
      <p:sp>
        <p:nvSpPr>
          <p:cNvPr id="47" name="Text 41"/>
          <p:cNvSpPr/>
          <p:nvPr/>
        </p:nvSpPr>
        <p:spPr>
          <a:xfrm>
            <a:off x="658368" y="64282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病房美学计划 · 戴上春天</a:t>
            </a:r>
            <a:endParaRPr lang="en-US" sz="1000" dirty="0"/>
          </a:p>
        </p:txBody>
      </p:sp>
      <p:sp>
        <p:nvSpPr>
          <p:cNvPr id="48" name="Text 42"/>
          <p:cNvSpPr/>
          <p:nvPr/>
        </p:nvSpPr>
        <p:spPr>
          <a:xfrm>
            <a:off x="10984687" y="6400800"/>
            <a:ext cx="5486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ONBOARDING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一键登记 · 双端入口各自独立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门户页提供「公益用户」与「普通用户」两个入口，登记仅需用户名与密码。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170432"/>
            <a:ext cx="960120" cy="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83080"/>
            <a:ext cx="507492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pic>
        <p:nvPicPr>
          <p:cNvPr id="7" name="Image 0" descr="/data/tool/browser_snapshots/portal-cards-cle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340" y="1901952"/>
            <a:ext cx="3778976" cy="38770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07608" y="1783080"/>
            <a:ext cx="2697480" cy="411480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pic>
        <p:nvPicPr>
          <p:cNvPr id="9" name="Image 1" descr="/data/tool/browser_snapshots/auth-n-cle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578692"/>
            <a:ext cx="2459736" cy="252357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887968" y="1783080"/>
            <a:ext cx="2697480" cy="411480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pic>
        <p:nvPicPr>
          <p:cNvPr id="11" name="Image 2" descr="/data/tool/browser_snapshots/auth-c-cle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2578692"/>
            <a:ext cx="2459736" cy="25235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8368" y="59436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门户选端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6007608" y="59436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正常端登记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8887968" y="59436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公益端登记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658368" y="64282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病房美学计划 · 戴上春天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0984687" y="6400800"/>
            <a:ext cx="5486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WHY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为什么做这件事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当「必须佩戴」成为日常，美就不该缺席。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170432"/>
            <a:ext cx="960120" cy="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83080"/>
            <a:ext cx="5486400" cy="3977640"/>
          </a:xfrm>
          <a:prstGeom prst="roundRect">
            <a:avLst>
              <a:gd name="adj" fmla="val 1609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pic>
        <p:nvPicPr>
          <p:cNvPr id="7" name="Image 0" descr="/workspace/项目介绍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226879"/>
            <a:ext cx="5486400" cy="309004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64808" y="1783080"/>
            <a:ext cx="5068519" cy="3977640"/>
          </a:xfrm>
          <a:prstGeom prst="roundRect">
            <a:avLst>
              <a:gd name="adj" fmla="val 1609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30568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9553A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美不是虚荣，是尊严。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6830568" y="2807208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50024" y="2743200"/>
            <a:ext cx="48554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病房美育缺失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长期住院的儿童与女性，几乎没有可参与的艺术创作与审美体验。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830568" y="3703320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50024" y="3639312"/>
            <a:ext cx="48554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遮盖物压抑表达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头巾与口罩本是被动的医疗遮盖，却成了每天必须面对的「面具」。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830568" y="4599432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50024" y="4535424"/>
            <a:ext cx="48554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缺少被看见的窗口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患者身份压过了创作者身份，他们的创造力很少被外界看见。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58368" y="64282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病房美学计划 · 戴上春天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984687" y="6400800"/>
            <a:ext cx="5486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玩法总览 · 从一支色号到一份善意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四步完成一次「创作 → 认捐 → 投放 → 反馈」的公益闭环。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170432"/>
            <a:ext cx="960120" cy="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10512"/>
            <a:ext cx="2567864" cy="2971800"/>
          </a:xfrm>
          <a:prstGeom prst="roundRect">
            <a:avLst>
              <a:gd name="adj" fmla="val 2493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50976" y="2029968"/>
            <a:ext cx="73152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CF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50976" y="2651760"/>
            <a:ext cx="1982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9553A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选色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50976" y="3145536"/>
            <a:ext cx="640080" cy="0"/>
          </a:xfrm>
          <a:prstGeom prst="line">
            <a:avLst/>
          </a:prstGeom>
          <a:noFill/>
          <a:ln w="2540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3310128"/>
            <a:ext cx="1982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 40 个真实美妆色号中挑选「颜料」，色号即色彩。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35376" y="3017520"/>
            <a:ext cx="1828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4A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27400" y="1810512"/>
            <a:ext cx="2567864" cy="2971800"/>
          </a:xfrm>
          <a:prstGeom prst="roundRect">
            <a:avLst>
              <a:gd name="adj" fmla="val 2493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20008" y="2029968"/>
            <a:ext cx="73152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CF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720008" y="2651760"/>
            <a:ext cx="1982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9553A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创作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720008" y="3145536"/>
            <a:ext cx="640080" cy="0"/>
          </a:xfrm>
          <a:prstGeom prst="line">
            <a:avLst/>
          </a:prstGeom>
          <a:noFill/>
          <a:ln w="25400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20008" y="3310128"/>
            <a:ext cx="1982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用口红 / 唇釉 / 腮红 / 眼线五种笔刷在画布上自由作画。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04408" y="3017520"/>
            <a:ext cx="1828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4A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96432" y="1810512"/>
            <a:ext cx="2567864" cy="2971800"/>
          </a:xfrm>
          <a:prstGeom prst="roundRect">
            <a:avLst>
              <a:gd name="adj" fmla="val 2493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89040" y="2029968"/>
            <a:ext cx="73152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CF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489040" y="2651760"/>
            <a:ext cx="1982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9553A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纹样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489040" y="3145536"/>
            <a:ext cx="640080" cy="0"/>
          </a:xfrm>
          <a:prstGeom prst="line">
            <a:avLst/>
          </a:prstGeom>
          <a:noFill/>
          <a:ln w="25400">
            <a:solidFill>
              <a:srgbClr val="E76F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89040" y="3310128"/>
            <a:ext cx="1982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将画作转为可印花的四方连续纹样，可用于头巾与口罩。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73439" y="3017520"/>
            <a:ext cx="1828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4A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965463" y="1810512"/>
            <a:ext cx="2567864" cy="2971800"/>
          </a:xfrm>
          <a:prstGeom prst="roundRect">
            <a:avLst>
              <a:gd name="adj" fmla="val 2493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258071" y="2029968"/>
            <a:ext cx="73152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CF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258071" y="2651760"/>
            <a:ext cx="1982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9553A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提交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258071" y="3145536"/>
            <a:ext cx="640080" cy="0"/>
          </a:xfrm>
          <a:prstGeom prst="line">
            <a:avLst/>
          </a:prstGeom>
          <a:noFill/>
          <a:ln w="25400">
            <a:solidFill>
              <a:srgbClr val="E76F5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58071" y="3310128"/>
            <a:ext cx="1982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选择认捐实物（一键捐赠）或自行购买定制产品，作品进入审核。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8368" y="5029200"/>
            <a:ext cx="10874959" cy="777240"/>
          </a:xfrm>
          <a:prstGeom prst="roundRect">
            <a:avLst>
              <a:gd name="adj" fmla="val 8235"/>
            </a:avLst>
          </a:prstGeom>
          <a:solidFill>
            <a:srgbClr val="FBEFE4"/>
          </a:solidFill>
          <a:ln w="12700">
            <a:solidFill>
              <a:srgbClr val="F0DFC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8408" y="517550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完整链路：正常端创作认捐 → 管理员审核与投放 → 公益端接收并佩戴 → 照片与感谢匿名回传创作者。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8368" y="64282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病房美学计划 · 戴上春天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984687" y="6400800"/>
            <a:ext cx="5486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CORE 01 · COLOR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从「命运色轮」开始选色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把鼠标放到色轮上，转动到你想表达的情绪色系。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170432"/>
            <a:ext cx="960120" cy="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83080"/>
            <a:ext cx="475488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pic>
        <p:nvPicPr>
          <p:cNvPr id="7" name="Image 0" descr="/data/tool/browser_snapshots/wheel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451" y="1901952"/>
            <a:ext cx="2884714" cy="38770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87568" y="1783080"/>
            <a:ext cx="5845759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53328" y="208483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一支色号，就是一种情绪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053328" y="2715768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72784" y="2651760"/>
            <a:ext cx="5038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色轮按色系分区块：红色系、橘色系、粉色系……共 40 个精选色号。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53328" y="3502152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72784" y="3438144"/>
            <a:ext cx="5038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每个色号都对应真实在售商品（品牌 / 产品 / 货号）。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053328" y="4288536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72784" y="4224528"/>
            <a:ext cx="5038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每个色号配一句「关于生命的诗」，把色号翻译成情感语言。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53328" y="5074920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72784" y="5010912"/>
            <a:ext cx="5038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选中色号即成为画作颜料，可在作画中随时追加多种颜色。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053328" y="53492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E9D6"/>
          </a:solidFill>
          <a:ln w="12700">
            <a:solidFill>
              <a:srgbClr val="F0DF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53328" y="5349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40 个色号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562088" y="53492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E9D6"/>
          </a:solidFill>
          <a:ln w="12700">
            <a:solidFill>
              <a:srgbClr val="F0DFC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62088" y="5349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种色系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70848" y="534924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E9D6"/>
          </a:solidFill>
          <a:ln w="12700">
            <a:solidFill>
              <a:srgbClr val="F0DFC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70848" y="5349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句生命的诗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58368" y="64282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病房美学计划 · 戴上春天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984687" y="6400800"/>
            <a:ext cx="5486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CORE 02 · PAINT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五种唇妆笔刷，画出你的春天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自由挑选笔刷与色号，在画布上自由创作。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170432"/>
            <a:ext cx="960120" cy="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83080"/>
            <a:ext cx="475488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pic>
        <p:nvPicPr>
          <p:cNvPr id="7" name="Image 0" descr="/data/tool/browser_snapshots/paint-canvas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303" y="1901952"/>
            <a:ext cx="2207010" cy="38770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87568" y="1783080"/>
            <a:ext cx="5845759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53328" y="208483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笔刷引擎 · 五种质地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053328" y="265176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FD9D0"/>
          </a:solidFill>
          <a:ln w="12700">
            <a:solidFill>
              <a:srgbClr val="F0DFC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6517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哑光口红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24928" y="2651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饱和厚实 · 粉绒质感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053328" y="310896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BF0E6"/>
          </a:solidFill>
          <a:ln w="12700">
            <a:solidFill>
              <a:srgbClr val="F0DFC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31089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水光唇釉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424928" y="3108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轻薄透亮 · 水润光泽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053328" y="356616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BF0E6"/>
          </a:solidFill>
          <a:ln w="12700">
            <a:solidFill>
              <a:srgbClr val="F0DF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35661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粉雾腮红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424928" y="3566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柔焦晕染 · 雾面感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053328" y="402336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BF0E6"/>
          </a:solidFill>
          <a:ln w="12700">
            <a:solidFill>
              <a:srgbClr val="F0DFC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40233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眼线液笔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424928" y="4023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纤细流畅 · 高显色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053328" y="448056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BF0E6"/>
          </a:solidFill>
          <a:ln w="12700">
            <a:solidFill>
              <a:srgbClr val="F0DFC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53328" y="44805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眼线胶笔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424928" y="4480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柔滑可晕 · 自然过渡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053328" y="501091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画布支持笔刷大小调节、撤销、清空画布、保存草稿与读取草稿。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053328" y="53949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底部实时显示本次使用的色号（悬停可获得颜色寓意）。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58368" y="64282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病房美学计划 · 戴上春天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0984687" y="6400800"/>
            <a:ext cx="5486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CORE 03 · AI PATTERN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AI 纹样化 · 让画作真正「戴上身」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把作品扫描成可印花的四方连续纹样，可直接用于头巾、口罩。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170432"/>
            <a:ext cx="960120" cy="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83080"/>
            <a:ext cx="470916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pic>
        <p:nvPicPr>
          <p:cNvPr id="7" name="Image 0" descr="/data/tool/browser_snapshots/paint-patte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805" y="1901952"/>
            <a:ext cx="2426287" cy="38770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41848" y="1783080"/>
            <a:ext cx="3291840" cy="411480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pic>
        <p:nvPicPr>
          <p:cNvPr id="9" name="Image 1" descr="/data/tool/browser_snapshots/paint-pattern-scar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5411" y="1901952"/>
            <a:ext cx="2884714" cy="38770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208008" y="1783080"/>
            <a:ext cx="2325319" cy="4114800"/>
          </a:xfrm>
          <a:prstGeom prst="roundRect">
            <a:avLst>
              <a:gd name="adj" fmla="val 2753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9482328" y="20848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从画布到面料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9482328" y="2606040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701784" y="2542032"/>
            <a:ext cx="1929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自动扫描画布主体、去除白色底，得到可重复排列的纹样单元。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9482328" y="3227832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701784" y="3163824"/>
            <a:ext cx="1929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去底强度可调，主体提取尺寸实时显示。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9482328" y="3849624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701784" y="3785616"/>
            <a:ext cx="1929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一键生成四方连续底纹，无缝平铺。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9482328" y="4471416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701784" y="4407408"/>
            <a:ext cx="1929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面料预览支持平铺 / 头巾 / 口罩三种形态。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9482328" y="5093208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701784" y="5029200"/>
            <a:ext cx="1929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支持导出与应用，直接用于定制印花。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58368" y="64282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病房美学计划 · 戴上春天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10984687" y="6400800"/>
            <a:ext cx="5486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DETAIL 01/03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细节 · 鼠标悬停色块，直达对应商品页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每一个色号都不是凭空虚构，而是指向真实在售的彩妆单品。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170432"/>
            <a:ext cx="960120" cy="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87007" y="1783080"/>
            <a:ext cx="484632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pic>
        <p:nvPicPr>
          <p:cNvPr id="7" name="Image 0" descr="/data/tool/browser_snapshots/paint-wheel-chosen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2701" y="1901952"/>
            <a:ext cx="1294932" cy="38770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8368" y="1783080"/>
            <a:ext cx="5845759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24128" y="21031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悬停即出发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1024128" y="2761488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43584" y="2697480"/>
            <a:ext cx="5358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悬停色块 →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弹出信息卡片，清晰展示「色号 / 品牌 / 产品 / 货号」。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024128" y="3730752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43584" y="3666744"/>
            <a:ext cx="5358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一句生命的诗 →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卡片下方附原创诗意文案，为商业色号赋予情感。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024128" y="4700016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43584" y="4636008"/>
            <a:ext cx="5358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两个跳转按钮 →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「查看商品页 · 官网」直达品牌电商，「品牌官网」进入品牌主页。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024128" y="52578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FE9D6"/>
          </a:solidFill>
          <a:ln w="12700">
            <a:solidFill>
              <a:srgbClr val="F0DF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24128" y="52578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hover 即可跳转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58368" y="64282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病房美学计划 · 戴上春天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984687" y="6400800"/>
            <a:ext cx="5486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DETAIL 02/03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细节 · 从色号到真实产品的商业闭环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选色不只是视觉体验，更是一次可完成的消费路径。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170432"/>
            <a:ext cx="960120" cy="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87007" y="1783080"/>
            <a:ext cx="484632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pic>
        <p:nvPicPr>
          <p:cNvPr id="7" name="Image 0" descr="/data/tool/browser_snapshots/hover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7810" y="1901952"/>
            <a:ext cx="2884714" cy="38770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8368" y="1783080"/>
            <a:ext cx="5845759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24128" y="21031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商业与体验不割裂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1024128" y="2761488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43584" y="2697480"/>
            <a:ext cx="5358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色号库直接映射真实商品：圣罗兰、YSL Beauty 等品牌在售单品。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24128" y="3566160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43584" y="3502152"/>
            <a:ext cx="5358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用户可一键查看商品页或品牌官网，完成「看到 → 想要 → 购买」。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1024128" y="4370832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43584" y="4306824"/>
            <a:ext cx="5358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作品被 AI 纹样化后可定制成头巾、口罩，形成实物转化。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1024128" y="5175504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43584" y="5111496"/>
            <a:ext cx="5358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商业购买与公益认捐共用同一套色号与创作流程，互不割裂。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58368" y="64282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病房美学计划 · 戴上春天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984687" y="6400800"/>
            <a:ext cx="5486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DETAIL 03/03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细节 · 40 个色号 × 40 句「生命的诗」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把冰冷的商品货号，翻译成病房里也能读懂的温柔。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170432"/>
            <a:ext cx="960120" cy="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83080"/>
            <a:ext cx="475488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pic>
        <p:nvPicPr>
          <p:cNvPr id="7" name="Image 0" descr="/data/tool/browser_snapshots/hover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040" y="1874520"/>
            <a:ext cx="2925536" cy="3931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87568" y="1783080"/>
            <a:ext cx="5845759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053328" y="2103120"/>
            <a:ext cx="3017520" cy="438912"/>
          </a:xfrm>
          <a:prstGeom prst="roundRect">
            <a:avLst>
              <a:gd name="adj" fmla="val 50000"/>
            </a:avLst>
          </a:prstGeom>
          <a:solidFill>
            <a:srgbClr val="FFD9D0"/>
          </a:solidFill>
          <a:ln w="12700">
            <a:solidFill>
              <a:srgbClr val="F0DFC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10312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S017 · 42 Babydoll Pink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53328" y="2743200"/>
            <a:ext cx="5257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00" i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樱花树下飘落的一片粉色花瓣，轻轻落在掌心，仿佛春天专程来赴一个约。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053328" y="3931920"/>
            <a:ext cx="1005840" cy="0"/>
          </a:xfrm>
          <a:prstGeom prst="line">
            <a:avLst/>
          </a:prstGeom>
          <a:noFill/>
          <a:ln w="25400">
            <a:solidFill>
              <a:srgbClr val="E76F5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53328" y="4224528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72784" y="4160520"/>
            <a:ext cx="5038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每个色号都有独立的货号、品牌与产品信息。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053328" y="4791456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72784" y="4727448"/>
            <a:ext cx="5038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诗意文案由项目团队原创，覆盖 40 个色号。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053328" y="5358384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72784" y="5294376"/>
            <a:ext cx="5038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在病房场景中，文字比色彩更能带来情绪安抚。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58368" y="64282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病房美学计划 · 戴上春天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0984687" y="6400800"/>
            <a:ext cx="5486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TRY-ON 01/02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AI 试妆 · 遇见更好的自己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实时人脸关键点识别，让病房里的每一天都值得「打扮」一次。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170432"/>
            <a:ext cx="960120" cy="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83080"/>
            <a:ext cx="512064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pic>
        <p:nvPicPr>
          <p:cNvPr id="7" name="Image 0" descr="/workspace/AI试妆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271" y="1783080"/>
            <a:ext cx="4092835" cy="4114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53328" y="1783080"/>
            <a:ext cx="5479999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19088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左：素颜   ·   右：上妆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19088" y="2715768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38544" y="2651760"/>
            <a:ext cx="4672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实时贴合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通过面部关键点识别，妆容精准贴合眼、唇、颊、眉。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19088" y="3593592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38544" y="3529584"/>
            <a:ext cx="4672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七大品类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口红 / 眼影 / 眼线 / 眉笔 / 腮红 / 粉底 / 染发，自由叠加。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19088" y="4471416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38544" y="4407408"/>
            <a:ext cx="4672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一键对比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中线滑块对比素颜与上妆，前后差异一目了然。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19088" y="5349240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38544" y="5285232"/>
            <a:ext cx="4672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可保存分享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支持下载试妆结果，作为病房里的「今日份好心情」。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58368" y="64282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病房美学计划 · 戴上春天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984687" y="6400800"/>
            <a:ext cx="5486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TRY-ON 02/02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AI 试妆 · 使用说明与场景价值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无需出门、无需妆容道具，一台设备即可完成一次「变美体验」。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170432"/>
            <a:ext cx="960120" cy="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83080"/>
            <a:ext cx="512064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pic>
        <p:nvPicPr>
          <p:cNvPr id="7" name="Image 0" descr="/workspace/ai试妆项目介绍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99534"/>
            <a:ext cx="5120640" cy="288189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53328" y="1783080"/>
            <a:ext cx="3017520" cy="411480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pic>
        <p:nvPicPr>
          <p:cNvPr id="9" name="Image 1" descr="/workspace/demo-wardsid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783080"/>
            <a:ext cx="2743200" cy="41148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345168" y="1783080"/>
            <a:ext cx="2188159" cy="4114800"/>
          </a:xfrm>
          <a:prstGeom prst="roundRect">
            <a:avLst>
              <a:gd name="adj" fmla="val 2925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9573768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为什么是「试妆」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9573768" y="2624328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793224" y="2560320"/>
            <a:ext cx="170078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病房中外出的机会很少，试妆是低成本的自我关怀。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9573768" y="3401568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793224" y="3337560"/>
            <a:ext cx="170078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试用安全：无需真实上妆，避免皮肤与感染顾虑。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9573768" y="4178808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793224" y="4114800"/>
            <a:ext cx="170078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试妆即灵感：满意后可回到色号库选色、继续创作。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9573768" y="4956048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793224" y="4892040"/>
            <a:ext cx="170078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正常端与公益端共用同一套试妆界面与素材。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58368" y="64282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病房美学计划 · 戴上春天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10984687" y="6400800"/>
            <a:ext cx="5486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MEANING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意义所在 · 让病房里的美被看见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公益端不是「最低配版本」，而是整个项目的价值落脚点。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170432"/>
            <a:ext cx="960120" cy="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83080"/>
            <a:ext cx="585216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pic>
        <p:nvPicPr>
          <p:cNvPr id="7" name="Image 0" descr="/data/tool/browser_snapshots/charity-c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426" y="1783080"/>
            <a:ext cx="3388044" cy="4114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30568" y="1783080"/>
            <a:ext cx="4702759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50608" y="2304288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70064" y="2240280"/>
            <a:ext cx="45354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作画疗愈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用色彩缓解治疗期的焦虑与无力感，重建对生活的掌控感。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150608" y="3236976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70064" y="3172968"/>
            <a:ext cx="45354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身份重建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作品被展示、被认捐，患者从「病人」变回「创作者」。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150608" y="4169664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70064" y="4105656"/>
            <a:ext cx="45354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真实需求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聚焦妇女与儿童住院群体的美育与尊严需求，而非泛化公益。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150608" y="5102352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70064" y="5038344"/>
            <a:ext cx="45354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被看见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画展、AI 试妆、色彩疗愈课堂，让善意有具体的载体。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58368" y="64282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病房美学计划 · 戴上春天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984687" y="6400800"/>
            <a:ext cx="5486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CHARITY SIDE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公益端玩法与细节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四大入口 + 个人中心，构成完整且低门槛的公益体验。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170432"/>
            <a:ext cx="960120" cy="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83080"/>
            <a:ext cx="502920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pic>
        <p:nvPicPr>
          <p:cNvPr id="7" name="Image 0" descr="/data/tool/browser_snapshots/charity-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480" y="1901952"/>
            <a:ext cx="3778976" cy="38770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61888" y="178308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pic>
        <p:nvPicPr>
          <p:cNvPr id="9" name="Image 1" descr="/data/tool/browser_snapshots/charity-prof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382" y="1874520"/>
            <a:ext cx="1737972" cy="17830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961888" y="393192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281928" y="411480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个人中心三项核心功能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281928" y="4590288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501384" y="4526280"/>
            <a:ext cx="4672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我的作品：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公益端同样可以创作，作品进入画廊。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81928" y="5047488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501384" y="4983480"/>
            <a:ext cx="4672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我的公益记录：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查看受捐画作、上传反馈照片与感谢留言。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81928" y="5504688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501384" y="5440680"/>
            <a:ext cx="4672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信息栏：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接收审核通过通知与来自创作者的回复。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58368" y="5989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首页四大入口：公益画展 · AI 试妆 · 色彩疗愈 · 爱心捐赠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58368" y="64282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病房美学计划 · 戴上春天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0984687" y="6400800"/>
            <a:ext cx="5486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GALLERY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画作展示区 · 四位用户的春天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不同背景色承载不同情绪，四幅作品在同一个展示区里相遇。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170432"/>
            <a:ext cx="960120" cy="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83080"/>
            <a:ext cx="502920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pic>
        <p:nvPicPr>
          <p:cNvPr id="7" name="Image 0" descr="/data/tool/browser_snapshots/gallery-final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021" y="1901952"/>
            <a:ext cx="2871893" cy="38770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61888" y="1783080"/>
            <a:ext cx="5571439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281928" y="2249424"/>
            <a:ext cx="128016" cy="457200"/>
          </a:xfrm>
          <a:prstGeom prst="roundRect">
            <a:avLst>
              <a:gd name="adj" fmla="val 35714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01968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Felicie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01968" y="2359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红色放射花 · 暖白底色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253728" y="21579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热烈、外放的表达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601968" y="2816352"/>
            <a:ext cx="4937760" cy="0"/>
          </a:xfrm>
          <a:prstGeom prst="line">
            <a:avLst/>
          </a:prstGeom>
          <a:noFill/>
          <a:ln w="12700">
            <a:solidFill>
              <a:srgbClr val="F0DFC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81928" y="3182112"/>
            <a:ext cx="128016" cy="457200"/>
          </a:xfrm>
          <a:prstGeom prst="roundRect">
            <a:avLst>
              <a:gd name="adj" fmla="val 35714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01968" y="3035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Guillaume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601968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大地色山峦 · 米杏底色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253728" y="30906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沉稳、安定的情绪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601968" y="3749040"/>
            <a:ext cx="4937760" cy="0"/>
          </a:xfrm>
          <a:prstGeom prst="line">
            <a:avLst/>
          </a:prstGeom>
          <a:noFill/>
          <a:ln w="12700">
            <a:solidFill>
              <a:srgbClr val="F0DFC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81928" y="4114800"/>
            <a:ext cx="128016" cy="457200"/>
          </a:xfrm>
          <a:prstGeom prst="roundRect">
            <a:avLst>
              <a:gd name="adj" fmla="val 35714"/>
            </a:avLst>
          </a:prstGeom>
          <a:solidFill>
            <a:srgbClr val="7FA9C9"/>
          </a:solidFill>
          <a:ln w="12700">
            <a:solidFill>
              <a:srgbClr val="7FA9C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01968" y="39684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Charles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601968" y="4224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海上的帆 · 浅蓝底色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253728" y="40233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A9C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向往远方的平静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601968" y="4681728"/>
            <a:ext cx="4937760" cy="0"/>
          </a:xfrm>
          <a:prstGeom prst="line">
            <a:avLst/>
          </a:prstGeom>
          <a:noFill/>
          <a:ln w="12700">
            <a:solidFill>
              <a:srgbClr val="F0DFC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81928" y="5047488"/>
            <a:ext cx="128016" cy="457200"/>
          </a:xfrm>
          <a:prstGeom prst="roundRect">
            <a:avLst>
              <a:gd name="adj" fmla="val 35714"/>
            </a:avLst>
          </a:prstGeom>
          <a:solidFill>
            <a:srgbClr val="E6A3C0"/>
          </a:solidFill>
          <a:ln w="12700">
            <a:solidFill>
              <a:srgbClr val="E6A3C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01968" y="49011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Rosita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601968" y="51572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樱花枝 · 粉紫底色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253728" y="49560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6A3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轻柔、治愈的春日感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58368" y="64282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病房美学计划 · 戴上春天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0984687" y="6400800"/>
            <a:ext cx="5486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COMMENTS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评论区 · 让善意有回声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点开任意一幅画，即可点赞、关注作者并留下评论。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170432"/>
            <a:ext cx="960120" cy="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83080"/>
            <a:ext cx="493776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pic>
        <p:nvPicPr>
          <p:cNvPr id="7" name="Image 0" descr="/data/tool/browser_snapshots/comment-final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993" y="1901952"/>
            <a:ext cx="3640509" cy="38770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870448" y="1783080"/>
            <a:ext cx="5662879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90488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评论区设计要点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190488" y="2761488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9944" y="2697480"/>
            <a:ext cx="48554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渐变容器 →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评论区使用淡粉 → 淡蓝渐变圆角矩形，与页面浅色系一致。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90488" y="3675888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9944" y="3611880"/>
            <a:ext cx="48554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半透明条目 →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每条评论为 70% 半透明白色圆角卡片，层次清晰。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90488" y="4590288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9944" y="4526280"/>
            <a:ext cx="48554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互动按钮 →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关注 / 点赞按钮 50% 透明度，悬停变白；发送键为橙黄胶囊。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90488" y="5504688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9944" y="5440680"/>
            <a:ext cx="48554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真实流转 →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公益端的照片与感谢也会进入同一套评论区与信息体系。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58368" y="64282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病房美学计划 · 戴上春天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984687" y="6400800"/>
            <a:ext cx="5486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PROFILE · USER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个人中心（正常端）· 创作与互动的归档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每一条创作记录都以半透明圆角卡片列出，含画作图与评论摘要。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170432"/>
            <a:ext cx="960120" cy="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83080"/>
            <a:ext cx="493776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pic>
        <p:nvPicPr>
          <p:cNvPr id="7" name="Image 0" descr="/data/tool/browser_snapshots/me-works-v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760" y="1901952"/>
            <a:ext cx="3778976" cy="38770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870448" y="1783080"/>
            <a:ext cx="5662879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90488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一条记录包含什么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190488" y="2761488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9944" y="2697480"/>
            <a:ext cx="4855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画作缩略图（保留用户选定的背景色）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90488" y="3419856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9944" y="3355848"/>
            <a:ext cx="4855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状态标签：待评选 / 已选中 / 未选中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190488" y="4078224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9944" y="4014216"/>
            <a:ext cx="4855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创作时间与提交方式（认捐 / 自购）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190488" y="4736592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9944" y="4672584"/>
            <a:ext cx="4855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点赞数与本次使用的色号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190488" y="5394960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9944" y="5330952"/>
            <a:ext cx="4855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评论摘要：谁在什么时候说了什么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58368" y="64282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病房美学计划 · 戴上春天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984687" y="6400800"/>
            <a:ext cx="5486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FEEDBACK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公益端 · 受捐与反馈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管理员投放后，公益用户在「我的公益记录」中选择是否接受。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170432"/>
            <a:ext cx="960120" cy="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83080"/>
            <a:ext cx="493776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pic>
        <p:nvPicPr>
          <p:cNvPr id="7" name="Image 0" descr="/data/tool/browser_snapshots/thanks-modal-f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022" y="1874520"/>
            <a:ext cx="3832452" cy="3931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870448" y="1783080"/>
            <a:ext cx="544068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pic>
        <p:nvPicPr>
          <p:cNvPr id="9" name="Image 1" descr="/data/tool/browser_snapshots/charity-accepted-fi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562" y="1874520"/>
            <a:ext cx="3832452" cy="3931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368" y="5943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上传佩戴照片 + 写感谢留言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5870448" y="59436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记录变为「已选择」并展示反馈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658368" y="64282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病房美学计划 · 戴上春天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0984687" y="6400800"/>
            <a:ext cx="5486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CLOSED LOOP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善意闭环 · 感谢匿名回传创作者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公益端的反馈经匿名处理后，回传到正常端创作者的信息栏。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170432"/>
            <a:ext cx="960120" cy="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83080"/>
            <a:ext cx="493776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pic>
        <p:nvPicPr>
          <p:cNvPr id="7" name="Image 0" descr="/data/tool/browser_snapshots/charity-accepted-f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022" y="1874520"/>
            <a:ext cx="3832452" cy="3931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870448" y="1783080"/>
            <a:ext cx="544068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pic>
        <p:nvPicPr>
          <p:cNvPr id="9" name="Image 1" descr="/data/tool/browser_snapshots/normal-inbox-than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797" y="1901952"/>
            <a:ext cx="3209982" cy="38770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368" y="5943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公益端 · 捐赠记录与反馈照片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5870448" y="59436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正常端 · 信息栏收到匿名感谢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9155887" y="1298448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E2BC"/>
          </a:solidFill>
          <a:ln w="12700">
            <a:solidFill>
              <a:srgbClr val="F0DFC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155887" y="12984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 创作者可匿名回复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58368" y="64282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病房美学计划 · 戴上春天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0984687" y="6400800"/>
            <a:ext cx="5486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ADMIN 01/02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管理后台 ① 控评 + 选择画作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评论可删除 / 恢复；画作可评选并随机投放至公益账号。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170432"/>
            <a:ext cx="960120" cy="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83080"/>
            <a:ext cx="548640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pic>
        <p:nvPicPr>
          <p:cNvPr id="7" name="Image 0" descr="/data/tool/browser_snapshots/admin-review-com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080" y="1901952"/>
            <a:ext cx="3778976" cy="38770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73368" y="1783080"/>
            <a:ext cx="493776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pic>
        <p:nvPicPr>
          <p:cNvPr id="9" name="Image 1" descr="/data/tool/browser_snapshots/admin-selec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112" y="1901952"/>
            <a:ext cx="3446272" cy="38770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368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评价控制：评论审核 · 删除 / 恢复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6373368" y="5943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选择画作：待评选 · 选择 / 放弃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658368" y="64282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病房美学计划 · 戴上春天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0984687" y="6400800"/>
            <a:ext cx="5486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ADMIN 02/02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管理后台 ② 投放 + 账号管理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选中即随机分配给公益用户并发送优惠券；账号分栏可查。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170432"/>
            <a:ext cx="960120" cy="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83080"/>
            <a:ext cx="493776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pic>
        <p:nvPicPr>
          <p:cNvPr id="7" name="Image 0" descr="/data/tool/browser_snapshots/admin-select-d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760" y="1901952"/>
            <a:ext cx="3778976" cy="38770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870448" y="1783080"/>
            <a:ext cx="2697480" cy="411480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pic>
        <p:nvPicPr>
          <p:cNvPr id="9" name="Image 1" descr="/data/tool/browser_snapshots/admin-accoun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478165"/>
            <a:ext cx="2459736" cy="272463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750808" y="1783080"/>
            <a:ext cx="2697480" cy="411480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pic>
        <p:nvPicPr>
          <p:cNvPr id="11" name="Image 2" descr="/data/tool/browser_snapshots/admin-accounts-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2578692"/>
            <a:ext cx="2459736" cy="25235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8368" y="5943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投放：已选中并随机分配给公益用户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5870448" y="59436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账号管理 · 正常用户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8750808" y="59436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账号管理 · 公益用户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658368" y="64282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病房美学计划 · 戴上春天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0984687" y="6400800"/>
            <a:ext cx="5486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VALUE 01/02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优点与可持续性 · 商业 + 公益的新模式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同一个色号库，同时跑通「消费」与「捐赠」两条链路。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170432"/>
            <a:ext cx="960120" cy="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8308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78408" y="20116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D9D0"/>
          </a:solidFill>
          <a:ln w="12700">
            <a:solidFill>
              <a:srgbClr val="F0DF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商业模式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78408" y="2578608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97864" y="2514600"/>
            <a:ext cx="4535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用户选择真实在售色号 → 一键跳转商品页 / 品牌官网。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78408" y="3035808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97864" y="2971800"/>
            <a:ext cx="4535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画作经 AI 纹样化 → 可购买定制头巾、口罩等实物。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78408" y="3493008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97864" y="3429000"/>
            <a:ext cx="4535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创作即消费入口，降低电商转化门槛。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27648" y="178308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47688" y="20116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D9EDD9"/>
          </a:solidFill>
          <a:ln w="12700">
            <a:solidFill>
              <a:srgbClr val="F0DF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47688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E7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公益模式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647688" y="2578608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67144" y="2514600"/>
            <a:ext cx="4535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正常端认捐实物 → 管理员投放 → 公益用户免费接收。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47688" y="3035808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67144" y="2971800"/>
            <a:ext cx="4535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公益端回传照片与感谢 → 反哺创作者的持续动力。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647688" y="3493008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67144" y="3429000"/>
            <a:ext cx="4535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供给可循环：每一份捐赠都有真实、可追溯的去向。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8368" y="4114800"/>
            <a:ext cx="10874959" cy="1691640"/>
          </a:xfrm>
          <a:prstGeom prst="roundRect">
            <a:avLst>
              <a:gd name="adj" fmla="val 3784"/>
            </a:avLst>
          </a:prstGeom>
          <a:solidFill>
            <a:srgbClr val="FBEFE4"/>
          </a:solidFill>
          <a:ln w="12700">
            <a:solidFill>
              <a:srgbClr val="F0DFC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4128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便利设计 · 让体验不设门槛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1024128" y="4864608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43584" y="4800600"/>
            <a:ext cx="9930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悬停变白 →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鼠标悬停文本 / 卡片时背景变白，聚焦当前操作。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24128" y="5175504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43584" y="5111496"/>
            <a:ext cx="9930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多语种 →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简体中文 · English · Français 三语全站切换，语言状态跨页面保持。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24128" y="5486400"/>
            <a:ext cx="82296" cy="21945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43584" y="5422392"/>
            <a:ext cx="9930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可退回选色 →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作画过程中可随时退回选色界面，多次追加不同色号。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" y="64282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病房美学计划 · 戴上春天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984687" y="6400800"/>
            <a:ext cx="5486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VALUE 02/02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创新点 · 关注妇女儿童患病群体的美育需求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把最容易被忽略的一群人，放回「审美主体」的位置。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170432"/>
            <a:ext cx="960120" cy="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10512"/>
            <a:ext cx="53492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50976" y="2066544"/>
            <a:ext cx="685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CF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709928" y="21031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9553A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遮盖物 → 表达载体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709928" y="2633472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头巾、口罩不再只是遮掩，而是患者亲手创作、佩戴的作品。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0488" y="1810512"/>
            <a:ext cx="53492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83096" y="2066544"/>
            <a:ext cx="685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CF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242048" y="21031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9553A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美妆商业链 → 病房公益链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42048" y="2633472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色号即商品、作品即捐赠，商业能力直接转化为公益供给。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" y="3931920"/>
            <a:ext cx="53492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50976" y="4187952"/>
            <a:ext cx="685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CF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709928" y="422452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9553A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低门槛可复制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709928" y="475488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纯前端演示系统，无需穿戴设备，普通病房即可落地使用。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90488" y="3931920"/>
            <a:ext cx="53492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83096" y="4187952"/>
            <a:ext cx="685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CF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242048" y="422452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9553A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情感价值可感知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242048" y="475488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每句色号文案、每条评论、每张回传照片，都是真实情绪的证据。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" y="64282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病房美学计划 · 戴上春天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984687" y="6400800"/>
            <a:ext cx="5486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371600"/>
            <a:ext cx="10874959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F0DFCE"/>
            </a:solidFill>
            <a:prstDash val="solid"/>
          </a:ln>
          <a:effectLst>
            <a:outerShdw sx="100000" sy="100000" kx="0" ky="0" algn="bl" rotWithShape="0" blurRad="114300" dist="25400" dir="5400000">
              <a:srgbClr val="5B4232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572768" y="19659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553A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美不是虚荣，是尊严。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55768" y="2926080"/>
            <a:ext cx="1280160" cy="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72768" y="3246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423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病房美学计划 · 戴上春天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72768" y="3840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spc="150" kern="0" dirty="0">
                <a:solidFill>
                  <a:srgbClr val="8A6F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Ward Aesthetics Program · Wear the Spring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72768" y="4434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42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感谢观看 · 期待与您一起，把春天戴在每一位创作者的头上。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947008" y="4892040"/>
            <a:ext cx="4297680" cy="365760"/>
          </a:xfrm>
          <a:prstGeom prst="roundRect">
            <a:avLst>
              <a:gd name="adj" fmla="val 50000"/>
            </a:avLst>
          </a:prstGeom>
          <a:solidFill>
            <a:srgbClr val="FFE9D6"/>
          </a:solidFill>
          <a:ln w="12700">
            <a:solidFill>
              <a:srgbClr val="F0DF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47008" y="4892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55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https://sand.nine.vercel.app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病房美学计划 · 戴上春天</dc:title>
  <dc:subject>PptxGenJS Presentation</dc:subject>
  <dc:creator>Ward Aesthetics Program</dc:creator>
  <cp:lastModifiedBy>Ward Aesthetics Program</cp:lastModifiedBy>
  <cp:revision>1</cp:revision>
  <dcterms:created xsi:type="dcterms:W3CDTF">2026-10-20T12:37:57Z</dcterms:created>
  <dcterms:modified xsi:type="dcterms:W3CDTF">2026-10-20T12:37:57Z</dcterms:modified>
</cp:coreProperties>
</file>